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9" r:id="rId1"/>
  </p:sldMasterIdLst>
  <p:sldIdLst>
    <p:sldId id="256" r:id="rId2"/>
    <p:sldId id="266" r:id="rId3"/>
    <p:sldId id="257" r:id="rId4"/>
    <p:sldId id="275" r:id="rId5"/>
    <p:sldId id="258" r:id="rId6"/>
    <p:sldId id="267" r:id="rId7"/>
    <p:sldId id="268" r:id="rId8"/>
    <p:sldId id="269" r:id="rId9"/>
    <p:sldId id="272" r:id="rId10"/>
    <p:sldId id="265" r:id="rId11"/>
    <p:sldId id="264" r:id="rId12"/>
    <p:sldId id="273" r:id="rId13"/>
    <p:sldId id="259" r:id="rId14"/>
    <p:sldId id="261" r:id="rId15"/>
    <p:sldId id="270" r:id="rId16"/>
    <p:sldId id="271" r:id="rId17"/>
    <p:sldId id="274" r:id="rId18"/>
    <p:sldId id="262" r:id="rId19"/>
    <p:sldId id="26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950" autoAdjust="0"/>
    <p:restoredTop sz="94660" autoAdjust="0"/>
  </p:normalViewPr>
  <p:slideViewPr>
    <p:cSldViewPr snapToGrid="0">
      <p:cViewPr varScale="1">
        <p:scale>
          <a:sx n="87" d="100"/>
          <a:sy n="87" d="100"/>
        </p:scale>
        <p:origin x="-576" y="-8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3790660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3046681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2475322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F5EFED-8A6B-442A-B46A-C78EA655E824}" type="datetimeFigureOut">
              <a:rPr lang="en-US" smtClean="0"/>
              <a:pPr/>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1946055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F5EFED-8A6B-442A-B46A-C78EA655E824}" type="datetimeFigureOut">
              <a:rPr lang="en-US" smtClean="0"/>
              <a:pPr/>
              <a:t>8/21/2024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3583662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BF5EFED-8A6B-442A-B46A-C78EA655E824}" type="datetimeFigureOut">
              <a:rPr lang="en-US" smtClean="0"/>
              <a:pPr/>
              <a:t>8/21/2024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1367889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F5EFED-8A6B-442A-B46A-C78EA655E824}" type="datetimeFigureOut">
              <a:rPr lang="en-US" smtClean="0"/>
              <a:pPr/>
              <a:t>8/21/2024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3910071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F5EFED-8A6B-442A-B46A-C78EA655E824}" type="datetimeFigureOut">
              <a:rPr lang="en-US" smtClean="0"/>
              <a:pPr/>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120934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BF5EFED-8A6B-442A-B46A-C78EA655E824}" type="datetimeFigureOut">
              <a:rPr lang="en-US" smtClean="0"/>
              <a:pPr/>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2300908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223583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xmlns="" val="3292859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31709887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xmlns="" val="3799837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4267816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3615882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F5EFED-8A6B-442A-B46A-C78EA655E824}"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3693034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BF5EFED-8A6B-442A-B46A-C78EA655E824}" type="datetimeFigureOut">
              <a:rPr lang="en-US" smtClean="0"/>
              <a:pPr/>
              <a:t>8/21/2024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6C9E938-AB36-4121-80D0-723A4F7B38BE}" type="slidenum">
              <a:rPr lang="en-US" smtClean="0"/>
              <a:pPr/>
              <a:t>‹#›</a:t>
            </a:fld>
            <a:endParaRPr lang="en-US"/>
          </a:p>
        </p:txBody>
      </p:sp>
    </p:spTree>
    <p:extLst>
      <p:ext uri="{BB962C8B-B14F-4D97-AF65-F5344CB8AC3E}">
        <p14:creationId xmlns:p14="http://schemas.microsoft.com/office/powerpoint/2010/main" xmlns="" val="418673328"/>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D3ED8AAA-1059-118C-7722-0B7A1BA0E44E}"/>
              </a:ext>
            </a:extLst>
          </p:cNvPr>
          <p:cNvSpPr>
            <a:spLocks noGrp="1"/>
          </p:cNvSpPr>
          <p:nvPr>
            <p:ph type="title"/>
          </p:nvPr>
        </p:nvSpPr>
        <p:spPr>
          <a:xfrm>
            <a:off x="2458661" y="1019906"/>
            <a:ext cx="6720507" cy="2813539"/>
          </a:xfrm>
        </p:spPr>
        <p:txBody>
          <a:bodyPr>
            <a:normAutofit/>
          </a:bodyPr>
          <a:lstStyle/>
          <a:p>
            <a:pPr algn="ctr">
              <a:lnSpc>
                <a:spcPct val="100000"/>
              </a:lnSpc>
            </a:pPr>
            <a:r>
              <a:rPr lang="en-US" sz="2800" b="1" dirty="0">
                <a:latin typeface="Times New Roman" panose="02020603050405020304" pitchFamily="18" charset="0"/>
                <a:cs typeface="Times New Roman" panose="02020603050405020304" pitchFamily="18" charset="0"/>
              </a:rPr>
              <a:t> </a:t>
            </a:r>
            <a:r>
              <a:rPr lang="en-US" sz="4000" b="1" dirty="0">
                <a:latin typeface="Times New Roman" pitchFamily="18" charset="0"/>
                <a:cs typeface="Times New Roman" pitchFamily="18" charset="0"/>
              </a:rPr>
              <a:t>Object Detection using Deep Learning with Audio Feedback</a:t>
            </a:r>
          </a:p>
        </p:txBody>
      </p:sp>
      <p:sp>
        <p:nvSpPr>
          <p:cNvPr id="5" name="Content Placeholder 4">
            <a:extLst>
              <a:ext uri="{FF2B5EF4-FFF2-40B4-BE49-F238E27FC236}">
                <a16:creationId xmlns:a16="http://schemas.microsoft.com/office/drawing/2014/main" xmlns="" id="{911A757C-CE30-7871-EDB1-5E100757B7A3}"/>
              </a:ext>
            </a:extLst>
          </p:cNvPr>
          <p:cNvSpPr>
            <a:spLocks noGrp="1"/>
          </p:cNvSpPr>
          <p:nvPr>
            <p:ph sz="half" idx="1"/>
          </p:nvPr>
        </p:nvSpPr>
        <p:spPr>
          <a:xfrm>
            <a:off x="8172390" y="5083244"/>
            <a:ext cx="4857810" cy="1299972"/>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PRESENTED BY</a:t>
            </a:r>
          </a:p>
          <a:p>
            <a:pPr marL="0" indent="0">
              <a:buNone/>
            </a:pPr>
            <a:r>
              <a:rPr lang="en-US" sz="1800" dirty="0">
                <a:latin typeface="Times New Roman" panose="02020603050405020304" pitchFamily="18" charset="0"/>
                <a:cs typeface="Times New Roman" panose="02020603050405020304" pitchFamily="18" charset="0"/>
              </a:rPr>
              <a:t>Y.DURGA PRASAD(322228820129)</a:t>
            </a:r>
          </a:p>
          <a:p>
            <a:pPr marL="0" indent="0">
              <a:buNone/>
            </a:pPr>
            <a:r>
              <a:rPr lang="en-US" sz="1800" dirty="0">
                <a:latin typeface="Times New Roman" panose="02020603050405020304" pitchFamily="18" charset="0"/>
                <a:cs typeface="Times New Roman" panose="02020603050405020304" pitchFamily="18" charset="0"/>
              </a:rPr>
              <a:t>MCA</a:t>
            </a:r>
          </a:p>
        </p:txBody>
      </p:sp>
      <p:sp>
        <p:nvSpPr>
          <p:cNvPr id="6" name="Content Placeholder 5">
            <a:extLst>
              <a:ext uri="{FF2B5EF4-FFF2-40B4-BE49-F238E27FC236}">
                <a16:creationId xmlns:a16="http://schemas.microsoft.com/office/drawing/2014/main" xmlns="" id="{321B428E-80EC-E5B2-6224-8657C23FF038}"/>
              </a:ext>
            </a:extLst>
          </p:cNvPr>
          <p:cNvSpPr>
            <a:spLocks noGrp="1"/>
          </p:cNvSpPr>
          <p:nvPr>
            <p:ph sz="half" idx="2"/>
          </p:nvPr>
        </p:nvSpPr>
        <p:spPr>
          <a:xfrm>
            <a:off x="3260612" y="3785745"/>
            <a:ext cx="5203723" cy="2405705"/>
          </a:xfrm>
        </p:spPr>
        <p:txBody>
          <a:bodyPr>
            <a:normAutofit/>
          </a:bodyPr>
          <a:lstStyle/>
          <a:p>
            <a:pPr marL="0" indent="0" algn="ctr">
              <a:buNone/>
            </a:pPr>
            <a:r>
              <a:rPr lang="en-US" sz="1800" dirty="0">
                <a:latin typeface="Times New Roman" panose="02020603050405020304" pitchFamily="18" charset="0"/>
                <a:cs typeface="Times New Roman" panose="02020603050405020304" pitchFamily="18" charset="0"/>
              </a:rPr>
              <a:t>UNDER THE ESTEEMED GUIDANCE OF</a:t>
            </a:r>
          </a:p>
          <a:p>
            <a:pPr marL="0" indent="0" algn="ctr">
              <a:buNone/>
            </a:pPr>
            <a:r>
              <a:rPr lang="en-US" sz="1800" dirty="0" err="1">
                <a:latin typeface="Times New Roman" panose="02020603050405020304" pitchFamily="18" charset="0"/>
                <a:cs typeface="Times New Roman" panose="02020603050405020304" pitchFamily="18" charset="0"/>
              </a:rPr>
              <a:t>Mrs.M.RUPA</a:t>
            </a:r>
            <a:r>
              <a:rPr lang="en-US" sz="1800" dirty="0">
                <a:latin typeface="Times New Roman" panose="02020603050405020304" pitchFamily="18" charset="0"/>
                <a:cs typeface="Times New Roman" panose="02020603050405020304" pitchFamily="18" charset="0"/>
              </a:rPr>
              <a:t> SRI </a:t>
            </a:r>
          </a:p>
        </p:txBody>
      </p:sp>
    </p:spTree>
    <p:extLst>
      <p:ext uri="{BB962C8B-B14F-4D97-AF65-F5344CB8AC3E}">
        <p14:creationId xmlns:p14="http://schemas.microsoft.com/office/powerpoint/2010/main" xmlns="" val="37595055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29630" y="211845"/>
            <a:ext cx="3502369" cy="523220"/>
          </a:xfrm>
          <a:prstGeom prst="rect">
            <a:avLst/>
          </a:prstGeom>
          <a:noFill/>
        </p:spPr>
        <p:txBody>
          <a:bodyPr wrap="none" rtlCol="0">
            <a:spAutoFit/>
          </a:bodyPr>
          <a:lstStyle/>
          <a:p>
            <a:r>
              <a:rPr lang="en-US" sz="2800" b="1" dirty="0">
                <a:latin typeface="Times New Roman" pitchFamily="18" charset="0"/>
                <a:cs typeface="Times New Roman" pitchFamily="18" charset="0"/>
              </a:rPr>
              <a:t>CONTENTS OF PPT</a:t>
            </a:r>
          </a:p>
        </p:txBody>
      </p:sp>
      <p:sp>
        <p:nvSpPr>
          <p:cNvPr id="3" name="TextBox 2"/>
          <p:cNvSpPr txBox="1"/>
          <p:nvPr/>
        </p:nvSpPr>
        <p:spPr>
          <a:xfrm>
            <a:off x="904932" y="844062"/>
            <a:ext cx="2717499" cy="6247864"/>
          </a:xfrm>
          <a:prstGeom prst="rect">
            <a:avLst/>
          </a:prstGeom>
          <a:noFill/>
        </p:spPr>
        <p:txBody>
          <a:bodyPr wrap="square" rtlCol="0">
            <a:spAutoFit/>
          </a:bodyPr>
          <a:lstStyle/>
          <a:p>
            <a:pPr>
              <a:lnSpc>
                <a:spcPct val="200000"/>
              </a:lnSpc>
              <a:buFont typeface="Wingdings" pitchFamily="2" charset="2"/>
              <a:buChar char="Ø"/>
            </a:pPr>
            <a:r>
              <a:rPr lang="en-US" sz="1600" dirty="0" smtClean="0">
                <a:latin typeface="Times New Roman" pitchFamily="18" charset="0"/>
                <a:cs typeface="Times New Roman" pitchFamily="18" charset="0"/>
              </a:rPr>
              <a:t>Abstract</a:t>
            </a:r>
          </a:p>
          <a:p>
            <a:pPr>
              <a:lnSpc>
                <a:spcPct val="200000"/>
              </a:lnSpc>
              <a:buFont typeface="Wingdings" pitchFamily="2" charset="2"/>
              <a:buChar char="Ø"/>
            </a:pPr>
            <a:r>
              <a:rPr lang="en-US" sz="1600" dirty="0" smtClean="0">
                <a:latin typeface="Times New Roman" pitchFamily="18" charset="0"/>
                <a:cs typeface="Times New Roman" pitchFamily="18" charset="0"/>
              </a:rPr>
              <a:t>Introduction</a:t>
            </a:r>
            <a:endParaRPr lang="en-US" sz="1600" dirty="0">
              <a:latin typeface="Times New Roman" pitchFamily="18" charset="0"/>
              <a:cs typeface="Times New Roman" pitchFamily="18" charset="0"/>
            </a:endParaRPr>
          </a:p>
          <a:p>
            <a:pPr>
              <a:lnSpc>
                <a:spcPct val="200000"/>
              </a:lnSpc>
              <a:buFont typeface="Wingdings" pitchFamily="2" charset="2"/>
              <a:buChar char="Ø"/>
            </a:pPr>
            <a:r>
              <a:rPr lang="en-US" sz="1600" dirty="0">
                <a:latin typeface="Times New Roman" pitchFamily="18" charset="0"/>
                <a:cs typeface="Times New Roman" pitchFamily="18" charset="0"/>
              </a:rPr>
              <a:t>Existing System</a:t>
            </a:r>
          </a:p>
          <a:p>
            <a:pPr>
              <a:lnSpc>
                <a:spcPct val="200000"/>
              </a:lnSpc>
              <a:buFont typeface="Wingdings" pitchFamily="2" charset="2"/>
              <a:buChar char="Ø"/>
            </a:pPr>
            <a:r>
              <a:rPr lang="en-US" sz="1600" dirty="0" smtClean="0">
                <a:latin typeface="Times New Roman" pitchFamily="18" charset="0"/>
                <a:cs typeface="Times New Roman" pitchFamily="18" charset="0"/>
              </a:rPr>
              <a:t>Proposed </a:t>
            </a:r>
            <a:r>
              <a:rPr lang="en-US" sz="1600" dirty="0">
                <a:latin typeface="Times New Roman" pitchFamily="18" charset="0"/>
                <a:cs typeface="Times New Roman" pitchFamily="18" charset="0"/>
              </a:rPr>
              <a:t>System</a:t>
            </a:r>
          </a:p>
          <a:p>
            <a:pPr>
              <a:lnSpc>
                <a:spcPct val="200000"/>
              </a:lnSpc>
              <a:buFont typeface="Wingdings" pitchFamily="2" charset="2"/>
              <a:buChar char="Ø"/>
            </a:pPr>
            <a:r>
              <a:rPr lang="en-US" sz="1600" dirty="0">
                <a:latin typeface="Times New Roman" pitchFamily="18" charset="0"/>
                <a:cs typeface="Times New Roman" pitchFamily="18" charset="0"/>
              </a:rPr>
              <a:t>Software Requirements</a:t>
            </a:r>
          </a:p>
          <a:p>
            <a:pPr>
              <a:lnSpc>
                <a:spcPct val="200000"/>
              </a:lnSpc>
              <a:buFont typeface="Wingdings" pitchFamily="2" charset="2"/>
              <a:buChar char="Ø"/>
            </a:pPr>
            <a:r>
              <a:rPr lang="en-US" sz="1600" dirty="0">
                <a:latin typeface="Times New Roman" pitchFamily="18" charset="0"/>
                <a:cs typeface="Times New Roman" pitchFamily="18" charset="0"/>
              </a:rPr>
              <a:t>Hardware Requirements</a:t>
            </a:r>
          </a:p>
          <a:p>
            <a:pPr>
              <a:lnSpc>
                <a:spcPct val="200000"/>
              </a:lnSpc>
              <a:buFont typeface="Wingdings" pitchFamily="2" charset="2"/>
              <a:buChar char="Ø"/>
            </a:pPr>
            <a:r>
              <a:rPr lang="en-US" sz="1600" dirty="0">
                <a:latin typeface="Times New Roman" pitchFamily="18" charset="0"/>
                <a:cs typeface="Times New Roman" pitchFamily="18" charset="0"/>
              </a:rPr>
              <a:t>Libraries</a:t>
            </a:r>
          </a:p>
          <a:p>
            <a:pPr>
              <a:lnSpc>
                <a:spcPct val="200000"/>
              </a:lnSpc>
              <a:buFont typeface="Wingdings" pitchFamily="2" charset="2"/>
              <a:buChar char="Ø"/>
            </a:pPr>
            <a:r>
              <a:rPr lang="en-US" sz="1600" dirty="0">
                <a:latin typeface="Times New Roman" pitchFamily="18" charset="0"/>
                <a:cs typeface="Times New Roman" pitchFamily="18" charset="0"/>
              </a:rPr>
              <a:t>CNN</a:t>
            </a:r>
          </a:p>
          <a:p>
            <a:pPr>
              <a:lnSpc>
                <a:spcPct val="200000"/>
              </a:lnSpc>
              <a:buFont typeface="Wingdings" pitchFamily="2" charset="2"/>
              <a:buChar char="Ø"/>
            </a:pPr>
            <a:r>
              <a:rPr lang="en-US" sz="1600" dirty="0">
                <a:latin typeface="Times New Roman" pitchFamily="18" charset="0"/>
                <a:cs typeface="Times New Roman" pitchFamily="18" charset="0"/>
              </a:rPr>
              <a:t>YOLO Model &amp; TTS</a:t>
            </a:r>
          </a:p>
          <a:p>
            <a:pPr>
              <a:lnSpc>
                <a:spcPct val="200000"/>
              </a:lnSpc>
              <a:buFont typeface="Wingdings" pitchFamily="2" charset="2"/>
              <a:buChar char="Ø"/>
            </a:pPr>
            <a:r>
              <a:rPr lang="en-US" sz="1600" dirty="0">
                <a:latin typeface="Times New Roman" pitchFamily="18" charset="0"/>
                <a:cs typeface="Times New Roman" pitchFamily="18" charset="0"/>
              </a:rPr>
              <a:t>COCO</a:t>
            </a:r>
          </a:p>
          <a:p>
            <a:pPr>
              <a:lnSpc>
                <a:spcPct val="200000"/>
              </a:lnSpc>
              <a:buFont typeface="Wingdings" pitchFamily="2" charset="2"/>
              <a:buChar char="Ø"/>
            </a:pPr>
            <a:r>
              <a:rPr lang="en-US" sz="1600" dirty="0">
                <a:latin typeface="Times New Roman" pitchFamily="18" charset="0"/>
                <a:cs typeface="Times New Roman" pitchFamily="18" charset="0"/>
              </a:rPr>
              <a:t>Results</a:t>
            </a:r>
          </a:p>
          <a:p>
            <a:pPr>
              <a:lnSpc>
                <a:spcPct val="200000"/>
              </a:lnSpc>
              <a:buFont typeface="Wingdings" pitchFamily="2" charset="2"/>
              <a:buChar char="Ø"/>
            </a:pPr>
            <a:r>
              <a:rPr lang="en-US" sz="1600" dirty="0">
                <a:latin typeface="Times New Roman" pitchFamily="18" charset="0"/>
                <a:cs typeface="Times New Roman" pitchFamily="18" charset="0"/>
              </a:rPr>
              <a:t>Conclusion</a:t>
            </a:r>
          </a:p>
          <a:p>
            <a:pPr>
              <a:buFont typeface="Wingdings" pitchFamily="2" charset="2"/>
              <a:buChar char="Ø"/>
            </a:pPr>
            <a:endParaRPr lang="en-US" sz="1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4F8EDA-68B0-4B1F-A0FE-D204100172DB}"/>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xmlns="" id="{8A70F5C4-255F-894D-6431-002488281795}"/>
              </a:ext>
            </a:extLst>
          </p:cNvPr>
          <p:cNvSpPr>
            <a:spLocks noGrp="1"/>
          </p:cNvSpPr>
          <p:nvPr>
            <p:ph idx="1"/>
          </p:nvPr>
        </p:nvSpPr>
        <p:spPr/>
        <p:txBody>
          <a:bodyPr>
            <a:normAutofit/>
          </a:bodyPr>
          <a:lstStyle/>
          <a:p>
            <a:pPr marL="0" indent="0" algn="just">
              <a:lnSpc>
                <a:spcPct val="150000"/>
              </a:lnSpc>
              <a:buNone/>
            </a:pPr>
            <a:r>
              <a:rPr lang="en-US" sz="2000" b="0" i="0" dirty="0">
                <a:solidFill>
                  <a:srgbClr val="1F1F1F"/>
                </a:solidFill>
                <a:effectLst/>
                <a:latin typeface="Times New Roman" panose="02020603050405020304" pitchFamily="18" charset="0"/>
                <a:cs typeface="Times New Roman" panose="02020603050405020304" pitchFamily="18" charset="0"/>
              </a:rPr>
              <a:t>Object detection is a computer vision task that involves identifying and locating objects in images or videos. This is a challenging task, as objects can vary in appearance, size, and pose. In recent years, deep learning has revolutionized object detection, enabling real-time detection of objects with high accuracy. Deep learning has enabled real-time object detection with high accuracy. This is due to the fact that deep learning models can learn to identify objects from large datasets of labeled images. This allows deep learning models to generalize to new objects and situations, which is essential for real-time object detection.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7461319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F51906-589B-4302-06D1-C0F9236F411F}"/>
              </a:ext>
            </a:extLst>
          </p:cNvPr>
          <p:cNvSpPr>
            <a:spLocks noGrp="1"/>
          </p:cNvSpPr>
          <p:nvPr>
            <p:ph type="title"/>
          </p:nvPr>
        </p:nvSpPr>
        <p:spPr>
          <a:xfrm>
            <a:off x="838200" y="365125"/>
            <a:ext cx="10515600" cy="633251"/>
          </a:xfrm>
        </p:spPr>
        <p:txBody>
          <a:bodyPr>
            <a:normAutofit/>
          </a:bodyPr>
          <a:lstStyle/>
          <a:p>
            <a:r>
              <a:rPr lang="en-US" sz="3200" dirty="0">
                <a:latin typeface="Times New Roman" panose="02020603050405020304" pitchFamily="18" charset="0"/>
                <a:cs typeface="Times New Roman" panose="02020603050405020304" pitchFamily="18" charset="0"/>
              </a:rPr>
              <a:t>INTRODUCTION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B6179B05-BE4A-9453-78CD-ACBCDBE270C4}"/>
              </a:ext>
            </a:extLst>
          </p:cNvPr>
          <p:cNvSpPr>
            <a:spLocks noGrp="1"/>
          </p:cNvSpPr>
          <p:nvPr>
            <p:ph idx="1"/>
          </p:nvPr>
        </p:nvSpPr>
        <p:spPr>
          <a:xfrm>
            <a:off x="838200" y="1362269"/>
            <a:ext cx="10515600" cy="4814694"/>
          </a:xfrm>
        </p:spPr>
        <p:txBody>
          <a:bodyPr>
            <a:normAutofit/>
          </a:bodyPr>
          <a:lstStyle/>
          <a:p>
            <a:r>
              <a:rPr lang="en-US" sz="2000" dirty="0">
                <a:latin typeface="Times New Roman" panose="02020603050405020304" pitchFamily="18" charset="0"/>
                <a:cs typeface="Times New Roman" panose="02020603050405020304" pitchFamily="18" charset="0"/>
              </a:rPr>
              <a:t>The project aims to explore the cutting-edge advancements in deep learning algorithms and methodologies to develop a highly efficient and accurate object detection system. </a:t>
            </a:r>
          </a:p>
          <a:p>
            <a:r>
              <a:rPr lang="en-US" sz="2000" dirty="0">
                <a:latin typeface="Times New Roman" panose="02020603050405020304" pitchFamily="18" charset="0"/>
                <a:cs typeface="Times New Roman" panose="02020603050405020304" pitchFamily="18" charset="0"/>
              </a:rPr>
              <a:t>By harnessing the potential of deep learning, this project endeavors to overcome the limitations of traditional computer vision techniques and pave the way for more intelligent and responsive applications.</a:t>
            </a:r>
          </a:p>
          <a:p>
            <a:r>
              <a:rPr lang="en-US" sz="2000" dirty="0">
                <a:latin typeface="Times New Roman" panose="02020603050405020304" pitchFamily="18" charset="0"/>
                <a:cs typeface="Times New Roman" panose="02020603050405020304" pitchFamily="18" charset="0"/>
              </a:rPr>
              <a:t> The primary focus of this project is to design and implement a real-time object detection system that can analyze and recognize objects in images or video streams at an impressive speed without compromising on accuracy. </a:t>
            </a:r>
          </a:p>
          <a:p>
            <a:r>
              <a:rPr lang="en-US" sz="2000" dirty="0">
                <a:latin typeface="Times New Roman" panose="02020603050405020304" pitchFamily="18" charset="0"/>
                <a:cs typeface="Times New Roman" panose="02020603050405020304" pitchFamily="18" charset="0"/>
              </a:rPr>
              <a:t>We will delve into the principles behind deep learning models for object detection, understanding the underlying architecture and the mathematics that drive their capabilities.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1708990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7F5AC0-E941-8B21-1E09-2E27B15B6A0A}"/>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xmlns="" id="{8CD9D86F-A977-40E6-704D-A08E2543216D}"/>
              </a:ext>
            </a:extLst>
          </p:cNvPr>
          <p:cNvSpPr>
            <a:spLocks noGrp="1"/>
          </p:cNvSpPr>
          <p:nvPr>
            <p:ph idx="1"/>
          </p:nvPr>
        </p:nvSpPr>
        <p:spPr/>
        <p:txBody>
          <a:bodyPr>
            <a:normAutofit/>
          </a:bodyPr>
          <a:lstStyle/>
          <a:p>
            <a:pPr marL="0" indent="0" algn="just">
              <a:lnSpc>
                <a:spcPct val="200000"/>
              </a:lnSpc>
              <a:buFont typeface="Wingdings" pitchFamily="2" charset="2"/>
              <a:buChar char="Ø"/>
            </a:pPr>
            <a:r>
              <a:rPr lang="en-US" sz="2000" dirty="0">
                <a:latin typeface="Times New Roman" panose="02020603050405020304" pitchFamily="18" charset="0"/>
                <a:cs typeface="Times New Roman" panose="02020603050405020304" pitchFamily="18" charset="0"/>
              </a:rPr>
              <a:t>Object detection using deep learning typically relies on visual input, where </a:t>
            </a:r>
            <a:r>
              <a:rPr lang="en-US" sz="2000" dirty="0" err="1">
                <a:latin typeface="Times New Roman" panose="02020603050405020304" pitchFamily="18" charset="0"/>
                <a:cs typeface="Times New Roman" panose="02020603050405020304" pitchFamily="18" charset="0"/>
              </a:rPr>
              <a:t>convolutional</a:t>
            </a:r>
            <a:r>
              <a:rPr lang="en-US" sz="2000" dirty="0">
                <a:latin typeface="Times New Roman" panose="02020603050405020304" pitchFamily="18" charset="0"/>
                <a:cs typeface="Times New Roman" panose="02020603050405020304" pitchFamily="18" charset="0"/>
              </a:rPr>
              <a:t> neural networks (CNNs) are commonly used to analyze images or video frames to detect and classify objects within them. </a:t>
            </a:r>
          </a:p>
          <a:p>
            <a:pPr marL="0" indent="0" algn="just">
              <a:lnSpc>
                <a:spcPct val="200000"/>
              </a:lnSpc>
              <a:buFont typeface="Wingdings" pitchFamily="2" charset="2"/>
              <a:buChar char="Ø"/>
            </a:pPr>
            <a:r>
              <a:rPr lang="en-US" sz="2000" dirty="0">
                <a:latin typeface="Times New Roman" panose="02020603050405020304" pitchFamily="18" charset="0"/>
                <a:cs typeface="Times New Roman" panose="02020603050405020304" pitchFamily="18" charset="0"/>
              </a:rPr>
              <a:t>However, integrating audio feedback into the object detection process is less common but certainly feasible and potentially useful in certain applications.</a:t>
            </a:r>
          </a:p>
        </p:txBody>
      </p:sp>
    </p:spTree>
    <p:extLst>
      <p:ext uri="{BB962C8B-B14F-4D97-AF65-F5344CB8AC3E}">
        <p14:creationId xmlns:p14="http://schemas.microsoft.com/office/powerpoint/2010/main" xmlns="" val="28396036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9039" y="694592"/>
            <a:ext cx="3464169" cy="523220"/>
          </a:xfrm>
          <a:prstGeom prst="rect">
            <a:avLst/>
          </a:prstGeom>
          <a:noFill/>
        </p:spPr>
        <p:txBody>
          <a:bodyPr wrap="square" rtlCol="0">
            <a:spAutoFit/>
          </a:bodyPr>
          <a:lstStyle/>
          <a:p>
            <a:r>
              <a:rPr lang="en-US" sz="2800" b="1" smtClean="0">
                <a:latin typeface="Times New Roman" pitchFamily="18" charset="0"/>
                <a:cs typeface="Times New Roman" pitchFamily="18" charset="0"/>
              </a:rPr>
              <a:t>Proposed </a:t>
            </a:r>
            <a:r>
              <a:rPr lang="en-US" sz="2800" b="1" dirty="0">
                <a:latin typeface="Times New Roman" pitchFamily="18" charset="0"/>
                <a:cs typeface="Times New Roman" pitchFamily="18" charset="0"/>
              </a:rPr>
              <a:t>System</a:t>
            </a:r>
          </a:p>
        </p:txBody>
      </p:sp>
      <p:sp>
        <p:nvSpPr>
          <p:cNvPr id="3" name="TextBox 2"/>
          <p:cNvSpPr txBox="1"/>
          <p:nvPr/>
        </p:nvSpPr>
        <p:spPr>
          <a:xfrm>
            <a:off x="1011115" y="1857935"/>
            <a:ext cx="10840916" cy="4457952"/>
          </a:xfrm>
          <a:prstGeom prst="rect">
            <a:avLst/>
          </a:prstGeom>
          <a:noFill/>
        </p:spPr>
        <p:txBody>
          <a:bodyPr wrap="square" rtlCol="0">
            <a:spAutoFit/>
          </a:bodyPr>
          <a:lstStyle/>
          <a:p>
            <a:pPr>
              <a:lnSpc>
                <a:spcPct val="150000"/>
              </a:lnSpc>
              <a:buFont typeface="Wingdings" pitchFamily="2" charset="2"/>
              <a:buChar char="Ø"/>
            </a:pPr>
            <a:r>
              <a:rPr lang="en-US" sz="2400" dirty="0">
                <a:latin typeface="Times New Roman" pitchFamily="18" charset="0"/>
                <a:cs typeface="Times New Roman" pitchFamily="18" charset="0"/>
              </a:rPr>
              <a:t>Incorporating audio feedback into object detection using deep learning could involve the following steps:</a:t>
            </a:r>
          </a:p>
          <a:p>
            <a:pPr>
              <a:lnSpc>
                <a:spcPct val="150000"/>
              </a:lnSpc>
            </a:pPr>
            <a:endParaRPr lang="en-US" sz="2400" dirty="0">
              <a:latin typeface="Times New Roman" pitchFamily="18" charset="0"/>
              <a:cs typeface="Times New Roman" pitchFamily="18" charset="0"/>
            </a:endParaRPr>
          </a:p>
          <a:p>
            <a:pPr>
              <a:lnSpc>
                <a:spcPct val="150000"/>
              </a:lnSpc>
              <a:buFont typeface="Wingdings" pitchFamily="2" charset="2"/>
              <a:buChar char="Ø"/>
            </a:pPr>
            <a:r>
              <a:rPr lang="en-US" sz="2400" dirty="0">
                <a:latin typeface="Times New Roman" pitchFamily="18" charset="0"/>
                <a:cs typeface="Times New Roman" pitchFamily="18" charset="0"/>
              </a:rPr>
              <a:t>Audio Feedback Integration: Develop a system interface that provides audio feedback based on the object detection results. This could involve generating spoken descriptions of detected objects or using audio cues to alert users about the presence of certain objects.</a:t>
            </a:r>
          </a:p>
          <a:p>
            <a:pPr>
              <a:lnSpc>
                <a:spcPct val="150000"/>
              </a:lnSpc>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itchFamily="18" charset="0"/>
                <a:cs typeface="Times New Roman" pitchFamily="18" charset="0"/>
              </a:rPr>
              <a:t>Software Requirements</a:t>
            </a:r>
            <a:r>
              <a:rPr lang="en-US" b="1" dirty="0"/>
              <a:t> </a:t>
            </a:r>
          </a:p>
        </p:txBody>
      </p:sp>
      <p:sp>
        <p:nvSpPr>
          <p:cNvPr id="3" name="Content Placeholder 2"/>
          <p:cNvSpPr>
            <a:spLocks noGrp="1"/>
          </p:cNvSpPr>
          <p:nvPr>
            <p:ph idx="1"/>
          </p:nvPr>
        </p:nvSpPr>
        <p:spPr>
          <a:xfrm>
            <a:off x="864577" y="2098187"/>
            <a:ext cx="10515600" cy="4351338"/>
          </a:xfrm>
        </p:spPr>
        <p:txBody>
          <a:bodyPr>
            <a:normAutofit/>
          </a:bodyPr>
          <a:lstStyle/>
          <a:p>
            <a:pPr>
              <a:lnSpc>
                <a:spcPct val="150000"/>
              </a:lnSpc>
            </a:pPr>
            <a:r>
              <a:rPr lang="en-US" sz="2000" dirty="0">
                <a:latin typeface="Times New Roman" pitchFamily="18" charset="0"/>
                <a:cs typeface="Times New Roman" pitchFamily="18" charset="0"/>
              </a:rPr>
              <a:t>Environment: Python</a:t>
            </a:r>
          </a:p>
          <a:p>
            <a:pPr>
              <a:lnSpc>
                <a:spcPct val="150000"/>
              </a:lnSpc>
            </a:pPr>
            <a:r>
              <a:rPr lang="en-US" sz="2000" dirty="0">
                <a:latin typeface="Times New Roman" pitchFamily="18" charset="0"/>
                <a:cs typeface="Times New Roman" pitchFamily="18" charset="0"/>
              </a:rPr>
              <a:t>Tool: </a:t>
            </a:r>
            <a:r>
              <a:rPr lang="en-US" sz="2000" dirty="0" err="1">
                <a:latin typeface="Times New Roman" pitchFamily="18" charset="0"/>
                <a:cs typeface="Times New Roman" pitchFamily="18" charset="0"/>
              </a:rPr>
              <a:t>Jupyter</a:t>
            </a:r>
            <a:r>
              <a:rPr lang="en-US" sz="2000" dirty="0">
                <a:latin typeface="Times New Roman" pitchFamily="18" charset="0"/>
                <a:cs typeface="Times New Roman" pitchFamily="18" charset="0"/>
              </a:rPr>
              <a:t> Notebook and Anaconda Prompt</a:t>
            </a:r>
          </a:p>
          <a:p>
            <a:pPr>
              <a:lnSpc>
                <a:spcPct val="150000"/>
              </a:lnSpc>
            </a:pPr>
            <a:r>
              <a:rPr lang="en-US" sz="2000" dirty="0">
                <a:latin typeface="Times New Roman" pitchFamily="18" charset="0"/>
                <a:cs typeface="Times New Roman" pitchFamily="18" charset="0"/>
              </a:rPr>
              <a:t>Operating system: Windows11 </a:t>
            </a:r>
          </a:p>
          <a:p>
            <a:pPr>
              <a:lnSpc>
                <a:spcPct val="150000"/>
              </a:lnSpc>
            </a:pPr>
            <a:r>
              <a:rPr lang="en-US" sz="2000" dirty="0">
                <a:latin typeface="Times New Roman" pitchFamily="18" charset="0"/>
                <a:cs typeface="Times New Roman" pitchFamily="18" charset="0"/>
              </a:rPr>
              <a:t>Edition: Windows 11 Home Single Language</a:t>
            </a:r>
          </a:p>
          <a:p>
            <a:pPr>
              <a:lnSpc>
                <a:spcPct val="150000"/>
              </a:lnSpc>
            </a:pPr>
            <a:r>
              <a:rPr lang="en-US" sz="2000" dirty="0">
                <a:latin typeface="Times New Roman" pitchFamily="18" charset="0"/>
                <a:cs typeface="Times New Roman" pitchFamily="18" charset="0"/>
              </a:rPr>
              <a:t>Version: 22H2</a:t>
            </a:r>
          </a:p>
          <a:p>
            <a:pPr>
              <a:lnSpc>
                <a:spcPct val="150000"/>
              </a:lnSpc>
            </a:pPr>
            <a:r>
              <a:rPr lang="en-US" sz="2000" dirty="0">
                <a:latin typeface="Times New Roman" pitchFamily="18" charset="0"/>
                <a:cs typeface="Times New Roman" pitchFamily="18" charset="0"/>
              </a:rPr>
              <a:t>OS build: 22621.2134</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itchFamily="18" charset="0"/>
                <a:cs typeface="Times New Roman" pitchFamily="18" charset="0"/>
              </a:rPr>
              <a:t>Hardware Requirements </a:t>
            </a:r>
          </a:p>
        </p:txBody>
      </p:sp>
      <p:sp>
        <p:nvSpPr>
          <p:cNvPr id="3" name="Content Placeholder 2"/>
          <p:cNvSpPr>
            <a:spLocks noGrp="1"/>
          </p:cNvSpPr>
          <p:nvPr>
            <p:ph idx="1"/>
          </p:nvPr>
        </p:nvSpPr>
        <p:spPr/>
        <p:txBody>
          <a:bodyPr>
            <a:normAutofit/>
          </a:bodyPr>
          <a:lstStyle/>
          <a:p>
            <a:pPr>
              <a:lnSpc>
                <a:spcPct val="150000"/>
              </a:lnSpc>
            </a:pPr>
            <a:r>
              <a:rPr lang="en-US" sz="2000" dirty="0">
                <a:latin typeface="Times New Roman" pitchFamily="18" charset="0"/>
                <a:cs typeface="Times New Roman" pitchFamily="18" charset="0"/>
              </a:rPr>
              <a:t>Name: DESKTOP-J7D8Q2I </a:t>
            </a:r>
          </a:p>
          <a:p>
            <a:pPr>
              <a:lnSpc>
                <a:spcPct val="150000"/>
              </a:lnSpc>
            </a:pPr>
            <a:r>
              <a:rPr lang="pt-BR" sz="2000" dirty="0">
                <a:latin typeface="Times New Roman" pitchFamily="18" charset="0"/>
                <a:cs typeface="Times New Roman" pitchFamily="18" charset="0"/>
              </a:rPr>
              <a:t>Processor: Intel(R) Core(TM) i3-1005G1 CPU @ 1.20GHz 1.20 GHz</a:t>
            </a:r>
          </a:p>
          <a:p>
            <a:pPr>
              <a:lnSpc>
                <a:spcPct val="150000"/>
              </a:lnSpc>
            </a:pPr>
            <a:r>
              <a:rPr lang="nn-NO" sz="2000" dirty="0">
                <a:latin typeface="Times New Roman" pitchFamily="18" charset="0"/>
                <a:cs typeface="Times New Roman" pitchFamily="18" charset="0"/>
              </a:rPr>
              <a:t>RAM: 8.00 GB</a:t>
            </a:r>
          </a:p>
          <a:p>
            <a:pPr>
              <a:lnSpc>
                <a:spcPct val="150000"/>
              </a:lnSpc>
            </a:pPr>
            <a:r>
              <a:rPr lang="en-US" sz="2000" dirty="0">
                <a:latin typeface="Times New Roman" pitchFamily="18" charset="0"/>
                <a:cs typeface="Times New Roman" pitchFamily="18" charset="0"/>
              </a:rPr>
              <a:t>System type: 64-bit operating system, x64-based processor</a:t>
            </a:r>
          </a:p>
          <a:p>
            <a:pPr>
              <a:lnSpc>
                <a:spcPct val="150000"/>
              </a:lnSpc>
            </a:pPr>
            <a:r>
              <a:rPr lang="en-US" sz="2000" dirty="0">
                <a:latin typeface="Times New Roman" pitchFamily="18" charset="0"/>
                <a:cs typeface="Times New Roman" pitchFamily="18" charset="0"/>
              </a:rPr>
              <a:t>Storage: 512Gb SSD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LIBRARIES</a:t>
            </a:r>
            <a:endParaRPr lang="en-US" sz="3600" dirty="0"/>
          </a:p>
        </p:txBody>
      </p:sp>
      <p:sp>
        <p:nvSpPr>
          <p:cNvPr id="3" name="Content Placeholder 2"/>
          <p:cNvSpPr>
            <a:spLocks noGrp="1"/>
          </p:cNvSpPr>
          <p:nvPr>
            <p:ph idx="1"/>
          </p:nvPr>
        </p:nvSpPr>
        <p:spPr/>
        <p:txBody>
          <a:bodyPr>
            <a:normAutofit fontScale="92500"/>
          </a:bodyPr>
          <a:lstStyle/>
          <a:p>
            <a:r>
              <a:rPr lang="en-US" dirty="0" err="1">
                <a:latin typeface="Times New Roman" panose="02020603050405020304" pitchFamily="18" charset="0"/>
                <a:cs typeface="Times New Roman" panose="02020603050405020304" pitchFamily="18" charset="0"/>
              </a:rPr>
              <a:t>OpenCV</a:t>
            </a:r>
            <a:endParaRPr lang="en-US" dirty="0">
              <a:latin typeface="Times New Roman" panose="02020603050405020304" pitchFamily="18" charset="0"/>
              <a:cs typeface="Times New Roman" panose="02020603050405020304" pitchFamily="18" charset="0"/>
            </a:endParaRPr>
          </a:p>
          <a:p>
            <a:pPr indent="-50800" algn="just">
              <a:lnSpc>
                <a:spcPct val="150000"/>
              </a:lnSpc>
              <a:buFont typeface="Times New Roman" panose="02020603050405020304" pitchFamily="18" charset="0"/>
              <a:buChar char="-"/>
            </a:pPr>
            <a:r>
              <a:rPr lang="en-US" dirty="0">
                <a:latin typeface="Times New Roman" panose="02020603050405020304" pitchFamily="18" charset="0"/>
                <a:cs typeface="Times New Roman" panose="02020603050405020304" pitchFamily="18" charset="0"/>
              </a:rPr>
              <a:t> I</a:t>
            </a:r>
            <a:r>
              <a:rPr lang="en-US" dirty="0">
                <a:solidFill>
                  <a:srgbClr val="1F1F1F"/>
                </a:solidFill>
                <a:latin typeface="Times New Roman" panose="02020603050405020304" pitchFamily="18" charset="0"/>
                <a:cs typeface="Times New Roman" panose="02020603050405020304" pitchFamily="18" charset="0"/>
              </a:rPr>
              <a:t>t is a powerful library that can be used for a variety of tasks, including image processing, video processing, and object detection.</a:t>
            </a:r>
          </a:p>
          <a:p>
            <a:pPr algn="just">
              <a:lnSpc>
                <a:spcPct val="150000"/>
              </a:lnSpc>
            </a:pPr>
            <a:r>
              <a:rPr lang="en-US" dirty="0" err="1">
                <a:solidFill>
                  <a:srgbClr val="1F1F1F"/>
                </a:solidFill>
                <a:latin typeface="Times New Roman" panose="02020603050405020304" pitchFamily="18" charset="0"/>
                <a:cs typeface="Times New Roman" panose="02020603050405020304" pitchFamily="18" charset="0"/>
              </a:rPr>
              <a:t>PyTorch</a:t>
            </a:r>
            <a:endParaRPr lang="en-US" dirty="0">
              <a:solidFill>
                <a:srgbClr val="1F1F1F"/>
              </a:solidFill>
              <a:latin typeface="Times New Roman" panose="02020603050405020304" pitchFamily="18" charset="0"/>
              <a:cs typeface="Times New Roman" panose="02020603050405020304" pitchFamily="18" charset="0"/>
            </a:endParaRPr>
          </a:p>
          <a:p>
            <a:pPr indent="-50800" algn="just">
              <a:lnSpc>
                <a:spcPct val="150000"/>
              </a:lnSpc>
              <a:buFont typeface="Times New Roman" panose="02020603050405020304" pitchFamily="18" charset="0"/>
              <a:buChar char="-"/>
            </a:pPr>
            <a:r>
              <a:rPr lang="en-US" dirty="0">
                <a:solidFill>
                  <a:srgbClr val="1F1F1F"/>
                </a:solidFill>
                <a:latin typeface="Times New Roman" panose="02020603050405020304" pitchFamily="18" charset="0"/>
                <a:cs typeface="Times New Roman" panose="02020603050405020304" pitchFamily="18" charset="0"/>
              </a:rPr>
              <a:t> It is a dynamic library, which means that it can be used to create both static and dynamic neural networks. This makes it a flexible tool that can be used for a variety of tasks.</a:t>
            </a:r>
          </a:p>
          <a:p>
            <a:pPr algn="just">
              <a:lnSpc>
                <a:spcPct val="150000"/>
              </a:lnSpc>
            </a:pPr>
            <a:r>
              <a:rPr lang="en-US" dirty="0" err="1">
                <a:solidFill>
                  <a:srgbClr val="1F1F1F"/>
                </a:solidFill>
                <a:latin typeface="Times New Roman" panose="02020603050405020304" pitchFamily="18" charset="0"/>
                <a:cs typeface="Times New Roman" panose="02020603050405020304" pitchFamily="18" charset="0"/>
              </a:rPr>
              <a:t>Pyttsx</a:t>
            </a:r>
            <a:endParaRPr lang="en-US" dirty="0">
              <a:solidFill>
                <a:srgbClr val="1F1F1F"/>
              </a:solidFill>
              <a:latin typeface="Times New Roman" panose="02020603050405020304" pitchFamily="18" charset="0"/>
              <a:cs typeface="Times New Roman" panose="02020603050405020304" pitchFamily="18" charset="0"/>
            </a:endParaRPr>
          </a:p>
          <a:p>
            <a:pPr indent="-50800" algn="just">
              <a:lnSpc>
                <a:spcPct val="150000"/>
              </a:lnSpc>
              <a:buFont typeface="Times New Roman" panose="02020603050405020304" pitchFamily="18" charset="0"/>
              <a:buChar char="-"/>
            </a:pPr>
            <a:r>
              <a:rPr lang="en-US" dirty="0">
                <a:solidFill>
                  <a:srgbClr val="1F1F1F"/>
                </a:solidFill>
                <a:latin typeface="Times New Roman" panose="02020603050405020304" pitchFamily="18" charset="0"/>
                <a:cs typeface="Times New Roman" panose="02020603050405020304" pitchFamily="18" charset="0"/>
              </a:rPr>
              <a:t> </a:t>
            </a:r>
            <a:r>
              <a:rPr lang="en-US" dirty="0" err="1">
                <a:solidFill>
                  <a:srgbClr val="1F1F1F"/>
                </a:solidFill>
                <a:latin typeface="Times New Roman" panose="02020603050405020304" pitchFamily="18" charset="0"/>
                <a:cs typeface="Times New Roman" panose="02020603050405020304" pitchFamily="18" charset="0"/>
              </a:rPr>
              <a:t>Pyttsx</a:t>
            </a:r>
            <a:r>
              <a:rPr lang="en-US" dirty="0">
                <a:solidFill>
                  <a:srgbClr val="1F1F1F"/>
                </a:solidFill>
                <a:latin typeface="Times New Roman" panose="02020603050405020304" pitchFamily="18" charset="0"/>
                <a:cs typeface="Times New Roman" panose="02020603050405020304" pitchFamily="18" charset="0"/>
              </a:rPr>
              <a:t> is a Python library that provides text-to-speech capabilities.</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7F5AC0-E941-8B21-1E09-2E27B15B6A0A}"/>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ALGORITHM</a:t>
            </a:r>
          </a:p>
        </p:txBody>
      </p:sp>
      <p:sp>
        <p:nvSpPr>
          <p:cNvPr id="3" name="Content Placeholder 2">
            <a:extLst>
              <a:ext uri="{FF2B5EF4-FFF2-40B4-BE49-F238E27FC236}">
                <a16:creationId xmlns:a16="http://schemas.microsoft.com/office/drawing/2014/main" xmlns="" id="{8CD9D86F-A977-40E6-704D-A08E2543216D}"/>
              </a:ext>
            </a:extLst>
          </p:cNvPr>
          <p:cNvSpPr>
            <a:spLocks noGrp="1"/>
          </p:cNvSpPr>
          <p:nvPr>
            <p:ph idx="1"/>
          </p:nvPr>
        </p:nvSpPr>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Convolutional Neural Network (CNN): A deep learning model designed for image recognition, using convolutional layers to automatically and adaptively learn patterns, widely used in </a:t>
            </a:r>
            <a:r>
              <a:rPr lang="en-US" sz="2000" dirty="0" err="1">
                <a:latin typeface="Times New Roman" panose="02020603050405020304" pitchFamily="18" charset="0"/>
                <a:cs typeface="Times New Roman" panose="02020603050405020304" pitchFamily="18" charset="0"/>
              </a:rPr>
              <a:t>computervision</a:t>
            </a:r>
            <a:r>
              <a:rPr lang="en-US" sz="2000" dirty="0">
                <a:latin typeface="Times New Roman" panose="02020603050405020304" pitchFamily="18" charset="0"/>
                <a:cs typeface="Times New Roman" panose="02020603050405020304" pitchFamily="18" charset="0"/>
              </a:rPr>
              <a:t> tasks</a:t>
            </a:r>
            <a:r>
              <a:rPr lang="en-US" sz="2000" dirty="0" smtClean="0">
                <a:latin typeface="Times New Roman" panose="02020603050405020304" pitchFamily="18" charset="0"/>
                <a:cs typeface="Times New Roman" panose="02020603050405020304" pitchFamily="18" charset="0"/>
              </a:rPr>
              <a:t>.</a:t>
            </a:r>
          </a:p>
          <a:p>
            <a:pPr marL="0" indent="0" algn="just">
              <a:lnSpc>
                <a:spcPct val="150000"/>
              </a:lnSpc>
              <a:buNone/>
            </a:pPr>
            <a:r>
              <a:rPr lang="en-US" sz="2000" dirty="0" smtClean="0">
                <a:latin typeface="Times New Roman" panose="02020603050405020304" pitchFamily="18" charset="0"/>
                <a:cs typeface="Times New Roman" panose="02020603050405020304" pitchFamily="18" charset="0"/>
              </a:rPr>
              <a:t>The CNN process the input image through multiple </a:t>
            </a:r>
            <a:r>
              <a:rPr lang="en-US" sz="2000" dirty="0" err="1" smtClean="0">
                <a:latin typeface="Times New Roman" panose="02020603050405020304" pitchFamily="18" charset="0"/>
                <a:cs typeface="Times New Roman" panose="02020603050405020304" pitchFamily="18" charset="0"/>
              </a:rPr>
              <a:t>convolutional</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layers.Each</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convolutional</a:t>
            </a:r>
            <a:r>
              <a:rPr lang="en-US" sz="2000" dirty="0" smtClean="0">
                <a:latin typeface="Times New Roman" panose="02020603050405020304" pitchFamily="18" charset="0"/>
                <a:cs typeface="Times New Roman" panose="02020603050405020304" pitchFamily="18" charset="0"/>
              </a:rPr>
              <a:t> layer applies a set of filters such as edges, textures  and shapes.</a:t>
            </a: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8914882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B0FA5E-BB4D-2B83-0838-51BC3ACC4869}"/>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MODEL</a:t>
            </a:r>
          </a:p>
        </p:txBody>
      </p:sp>
      <p:sp>
        <p:nvSpPr>
          <p:cNvPr id="3" name="Content Placeholder 2">
            <a:extLst>
              <a:ext uri="{FF2B5EF4-FFF2-40B4-BE49-F238E27FC236}">
                <a16:creationId xmlns:a16="http://schemas.microsoft.com/office/drawing/2014/main" xmlns="" id="{964463A7-0754-5A99-2683-6ACF9D05F95C}"/>
              </a:ext>
            </a:extLst>
          </p:cNvPr>
          <p:cNvSpPr>
            <a:spLocks noGrp="1"/>
          </p:cNvSpPr>
          <p:nvPr>
            <p:ph idx="1"/>
          </p:nvPr>
        </p:nvSpPr>
        <p:spPr/>
        <p:txBody>
          <a:bodyPr>
            <a:normAutofit fontScale="85000" lnSpcReduction="10000"/>
          </a:bodyPr>
          <a:lstStyle/>
          <a:p>
            <a:pPr>
              <a:lnSpc>
                <a:spcPct val="150000"/>
              </a:lnSpc>
            </a:pPr>
            <a:r>
              <a:rPr lang="en-US" dirty="0">
                <a:latin typeface="Times New Roman" panose="02020603050405020304" pitchFamily="18" charset="0"/>
                <a:cs typeface="Times New Roman" panose="02020603050405020304" pitchFamily="18" charset="0"/>
              </a:rPr>
              <a:t>YOLO (You Only Look Once)</a:t>
            </a:r>
          </a:p>
          <a:p>
            <a:pPr indent="-50800">
              <a:lnSpc>
                <a:spcPct val="150000"/>
              </a:lnSpc>
              <a:buFont typeface="Wingdings" pitchFamily="2" charset="2"/>
              <a:buChar char="q"/>
            </a:pPr>
            <a:r>
              <a:rPr lang="en-US" sz="2000" dirty="0">
                <a:latin typeface="Times New Roman" panose="02020603050405020304" pitchFamily="18" charset="0"/>
                <a:cs typeface="Times New Roman" panose="02020603050405020304" pitchFamily="18" charset="0"/>
              </a:rPr>
              <a:t> </a:t>
            </a:r>
            <a:r>
              <a:rPr lang="en-US" sz="2000" b="0" i="0" dirty="0">
                <a:solidFill>
                  <a:srgbClr val="1F1F1F"/>
                </a:solidFill>
                <a:effectLst/>
                <a:latin typeface="Times New Roman" panose="02020603050405020304" pitchFamily="18" charset="0"/>
                <a:cs typeface="Times New Roman" panose="02020603050405020304" pitchFamily="18" charset="0"/>
              </a:rPr>
              <a:t>YOLO (You Only Look Once) is a family of object detection algorithms that are based on the single-shot detection (SSD) framework. YOLO algorithms are known for their speed and accuracy, and they are widely used in a variety of applications, such as self-driving cars, surveillance, and robotics.</a:t>
            </a:r>
          </a:p>
          <a:p>
            <a:pPr indent="-50800">
              <a:lnSpc>
                <a:spcPct val="150000"/>
              </a:lnSpc>
              <a:buFont typeface="Wingdings" pitchFamily="2" charset="2"/>
              <a:buChar char="q"/>
            </a:pPr>
            <a:r>
              <a:rPr lang="en-US" sz="2000" dirty="0">
                <a:latin typeface="Times New Roman" pitchFamily="18" charset="0"/>
                <a:cs typeface="Times New Roman" pitchFamily="18" charset="0"/>
              </a:rPr>
              <a:t>The state-of-the-art real-time object recognition model known as YOLOv5, or "You Only Look Once, Version 5," has become extremely well-liked in the computer vision and deep learning fields. The YOLOv5 algorithm, created by </a:t>
            </a:r>
            <a:r>
              <a:rPr lang="en-US" sz="2000" dirty="0" err="1">
                <a:latin typeface="Times New Roman" pitchFamily="18" charset="0"/>
                <a:cs typeface="Times New Roman" pitchFamily="18" charset="0"/>
              </a:rPr>
              <a:t>Ultralytics</a:t>
            </a:r>
            <a:r>
              <a:rPr lang="en-US" sz="2000" dirty="0">
                <a:latin typeface="Times New Roman" pitchFamily="18" charset="0"/>
                <a:cs typeface="Times New Roman" pitchFamily="18" charset="0"/>
              </a:rPr>
              <a:t>, builds on the success of its forerunners and offers notable enhancements in terms of speed, accuracy, and variety.</a:t>
            </a:r>
            <a:endParaRPr lang="en-US" sz="2000" b="0" i="0" dirty="0">
              <a:solidFill>
                <a:srgbClr val="1F1F1F"/>
              </a:solidFill>
              <a:effectLst/>
              <a:latin typeface="Times New Roman" pitchFamily="18" charset="0"/>
              <a:cs typeface="Times New Roman" pitchFamily="18" charset="0"/>
            </a:endParaRPr>
          </a:p>
          <a:p>
            <a:pPr indent="-50800">
              <a:lnSpc>
                <a:spcPct val="150000"/>
              </a:lnSpc>
              <a:buFont typeface="Times New Roman" panose="02020603050405020304" pitchFamily="18" charset="0"/>
              <a:buChar char="-"/>
            </a:pPr>
            <a:endParaRPr lang="en-US" sz="2000" dirty="0">
              <a:latin typeface="Times New Roman" panose="02020603050405020304" pitchFamily="18" charset="0"/>
              <a:cs typeface="Times New Roman" panose="02020603050405020304" pitchFamily="18" charset="0"/>
            </a:endParaRPr>
          </a:p>
          <a:p>
            <a:pPr indent="-50800">
              <a:lnSpc>
                <a:spcPct val="150000"/>
              </a:lnSpc>
              <a:buNone/>
            </a:pPr>
            <a:endParaRPr lang="en-US" sz="2000" dirty="0">
              <a:latin typeface="Times New Roman" panose="02020603050405020304" pitchFamily="18" charset="0"/>
              <a:cs typeface="Times New Roman" panose="02020603050405020304" pitchFamily="18" charset="0"/>
            </a:endParaRPr>
          </a:p>
          <a:p>
            <a:pPr marL="177800" indent="0">
              <a:lnSpc>
                <a:spcPct val="15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1802752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itchFamily="18" charset="0"/>
                <a:cs typeface="Times New Roman" pitchFamily="18" charset="0"/>
              </a:rPr>
              <a:t>Python Text-to-Speech (TTS)</a:t>
            </a:r>
          </a:p>
        </p:txBody>
      </p:sp>
      <p:sp>
        <p:nvSpPr>
          <p:cNvPr id="3" name="Content Placeholder 2"/>
          <p:cNvSpPr>
            <a:spLocks noGrp="1"/>
          </p:cNvSpPr>
          <p:nvPr>
            <p:ph idx="1"/>
          </p:nvPr>
        </p:nvSpPr>
        <p:spPr/>
        <p:txBody>
          <a:bodyPr>
            <a:normAutofit fontScale="92500" lnSpcReduction="10000"/>
          </a:bodyPr>
          <a:lstStyle/>
          <a:p>
            <a:pPr>
              <a:lnSpc>
                <a:spcPct val="100000"/>
              </a:lnSpc>
            </a:pPr>
            <a:r>
              <a:rPr lang="en-US" sz="2000" dirty="0">
                <a:latin typeface="Times New Roman" pitchFamily="18" charset="0"/>
                <a:cs typeface="Times New Roman" pitchFamily="18" charset="0"/>
              </a:rPr>
              <a:t>PyTTSx3 is a popular Python Text-to-Speech (TTS) engine that allows developers to turn written text into natural-sounding speech. PyTTSx3 has been a popular alternative for designing apps that require voice synthesis due to its ease of use and flexibility</a:t>
            </a:r>
            <a:r>
              <a:rPr lang="en-US" dirty="0"/>
              <a:t>.</a:t>
            </a:r>
          </a:p>
          <a:p>
            <a:pPr>
              <a:lnSpc>
                <a:spcPct val="100000"/>
              </a:lnSpc>
            </a:pPr>
            <a:r>
              <a:rPr lang="en-US" sz="2000" dirty="0">
                <a:latin typeface="Times New Roman" pitchFamily="18" charset="0"/>
                <a:cs typeface="Times New Roman" pitchFamily="18" charset="0"/>
              </a:rPr>
              <a:t>The simplicity of usage of PyTTSx3 is one of its most important benefits. With just a few lines of Python code, developers may immediately incorporate it into their applications. By providing customization options for speech rate, volume, and pitch control, it enables developers to precisely tailor the generated speech to the requirements of their application</a:t>
            </a:r>
            <a:r>
              <a:rPr lang="en-US" dirty="0">
                <a:latin typeface="Times New Roman" pitchFamily="18" charset="0"/>
                <a:cs typeface="Times New Roman" pitchFamily="18" charset="0"/>
              </a:rPr>
              <a:t>.</a:t>
            </a:r>
          </a:p>
          <a:p>
            <a:pPr>
              <a:lnSpc>
                <a:spcPct val="100000"/>
              </a:lnSpc>
            </a:pPr>
            <a:r>
              <a:rPr lang="en-US" sz="2000" dirty="0">
                <a:latin typeface="Times New Roman" pitchFamily="18" charset="0"/>
                <a:cs typeface="Times New Roman" pitchFamily="18" charset="0"/>
              </a:rPr>
              <a:t>Additionally, Pyttsx3 gives you the option to save the generated speech as audio files in a variety of formats, including WAV or MP3. If you wish to programmatically produce audio books, voiceovers, or other audio content, this option is quite helpful.</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6D30FB-013C-CC0A-2AAD-1F23C3948216}"/>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DATASETS</a:t>
            </a:r>
          </a:p>
        </p:txBody>
      </p:sp>
      <p:sp>
        <p:nvSpPr>
          <p:cNvPr id="5" name="Content Placeholder 4">
            <a:extLst>
              <a:ext uri="{FF2B5EF4-FFF2-40B4-BE49-F238E27FC236}">
                <a16:creationId xmlns:a16="http://schemas.microsoft.com/office/drawing/2014/main" xmlns="" id="{AA2B46C6-B8F0-4B30-09CD-1DCA8173288B}"/>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COCO (Common Objects in Context)</a:t>
            </a:r>
          </a:p>
          <a:p>
            <a:pPr marL="177800" indent="0" algn="just">
              <a:lnSpc>
                <a:spcPct val="150000"/>
              </a:lnSpc>
              <a:buNone/>
            </a:pPr>
            <a:r>
              <a:rPr lang="en-US" sz="2000" b="0" i="0" dirty="0">
                <a:solidFill>
                  <a:srgbClr val="1F1F1F"/>
                </a:solidFill>
                <a:effectLst/>
                <a:latin typeface="Times New Roman" panose="02020603050405020304" pitchFamily="18" charset="0"/>
                <a:cs typeface="Times New Roman" panose="02020603050405020304" pitchFamily="18" charset="0"/>
              </a:rPr>
              <a:t>The </a:t>
            </a:r>
            <a:r>
              <a:rPr lang="en-US" sz="2000" b="0" i="0" dirty="0" err="1" smtClean="0">
                <a:solidFill>
                  <a:srgbClr val="1F1F1F"/>
                </a:solidFill>
                <a:effectLst/>
                <a:latin typeface="Times New Roman" panose="02020603050405020304" pitchFamily="18" charset="0"/>
                <a:cs typeface="Times New Roman" panose="02020603050405020304" pitchFamily="18" charset="0"/>
              </a:rPr>
              <a:t>COCO.names</a:t>
            </a:r>
            <a:r>
              <a:rPr lang="en-US" sz="2000" b="0" i="0" dirty="0" smtClean="0">
                <a:solidFill>
                  <a:srgbClr val="1F1F1F"/>
                </a:solidFill>
                <a:effectLst/>
                <a:latin typeface="Times New Roman" panose="02020603050405020304" pitchFamily="18" charset="0"/>
                <a:cs typeface="Times New Roman" panose="02020603050405020304" pitchFamily="18" charset="0"/>
              </a:rPr>
              <a:t> file contains the labels that the coco dataset contains and to know what labels present in it.</a:t>
            </a:r>
          </a:p>
          <a:p>
            <a:pPr marL="177800" indent="0" algn="just">
              <a:lnSpc>
                <a:spcPct val="150000"/>
              </a:lnSpc>
              <a:buNone/>
            </a:pPr>
            <a:r>
              <a:rPr lang="en-US" sz="2000" dirty="0" smtClean="0">
                <a:solidFill>
                  <a:srgbClr val="1F1F1F"/>
                </a:solidFill>
                <a:latin typeface="Times New Roman" panose="02020603050405020304" pitchFamily="18" charset="0"/>
                <a:cs typeface="Times New Roman" panose="02020603050405020304" pitchFamily="18" charset="0"/>
              </a:rPr>
              <a:t>This predicts an object with certain class index(example : 0 for person,1 for </a:t>
            </a:r>
            <a:r>
              <a:rPr lang="en-US" sz="2000" dirty="0" err="1" smtClean="0">
                <a:solidFill>
                  <a:srgbClr val="1F1F1F"/>
                </a:solidFill>
                <a:latin typeface="Times New Roman" panose="02020603050405020304" pitchFamily="18" charset="0"/>
                <a:cs typeface="Times New Roman" panose="02020603050405020304" pitchFamily="18" charset="0"/>
              </a:rPr>
              <a:t>cellphone</a:t>
            </a:r>
            <a:r>
              <a:rPr lang="en-US" sz="2000" dirty="0" smtClean="0">
                <a:solidFill>
                  <a:srgbClr val="1F1F1F"/>
                </a:solidFill>
                <a:latin typeface="Times New Roman" panose="02020603050405020304" pitchFamily="18" charset="0"/>
                <a:cs typeface="Times New Roman" panose="02020603050405020304" pitchFamily="18" charset="0"/>
              </a:rPr>
              <a:t>…) to convert this index into a readable label.</a:t>
            </a:r>
            <a:endParaRPr lang="en-US" sz="2000" b="0" i="0" dirty="0" smtClean="0">
              <a:solidFill>
                <a:srgbClr val="1F1F1F"/>
              </a:solidFill>
              <a:effectLst/>
              <a:latin typeface="Times New Roman" panose="02020603050405020304" pitchFamily="18" charset="0"/>
              <a:cs typeface="Times New Roman" panose="02020603050405020304" pitchFamily="18" charset="0"/>
            </a:endParaRPr>
          </a:p>
          <a:p>
            <a:pPr marL="177800" indent="0" algn="just">
              <a:lnSpc>
                <a:spcPct val="150000"/>
              </a:lnSpc>
              <a:buNone/>
            </a:pPr>
            <a:r>
              <a:rPr lang="en-US" sz="2000" b="0" i="0" dirty="0" smtClean="0">
                <a:solidFill>
                  <a:srgbClr val="1F1F1F"/>
                </a:solidFill>
                <a:effectLst/>
                <a:latin typeface="Times New Roman" panose="02020603050405020304" pitchFamily="18" charset="0"/>
                <a:cs typeface="Times New Roman" panose="02020603050405020304" pitchFamily="18" charset="0"/>
              </a:rPr>
              <a:t>The </a:t>
            </a:r>
            <a:r>
              <a:rPr lang="en-US" sz="2000" b="0" i="0" dirty="0">
                <a:solidFill>
                  <a:srgbClr val="1F1F1F"/>
                </a:solidFill>
                <a:effectLst/>
                <a:latin typeface="Times New Roman" panose="02020603050405020304" pitchFamily="18" charset="0"/>
                <a:cs typeface="Times New Roman" panose="02020603050405020304" pitchFamily="18" charset="0"/>
              </a:rPr>
              <a:t>dataset was created by Microsoft and is used to train and evaluate object detection, segmentation, and captioning algorithms.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795163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7886FD-1A10-81EA-F1D0-04CCB7D707EF}"/>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xmlns="" id="{E56009CE-662A-89C1-CF70-92DDC2953B27}"/>
              </a:ext>
            </a:extLst>
          </p:cNvPr>
          <p:cNvSpPr>
            <a:spLocks noGrp="1"/>
          </p:cNvSpPr>
          <p:nvPr>
            <p:ph idx="1"/>
          </p:nvPr>
        </p:nvSpPr>
        <p:spPr/>
        <p:txBody>
          <a:bodyPr>
            <a:normAutofit/>
          </a:bodyPr>
          <a:lstStyle/>
          <a:p>
            <a:pPr marL="0" indent="0" algn="just">
              <a:lnSpc>
                <a:spcPct val="150000"/>
              </a:lnSpc>
              <a:buNone/>
            </a:pPr>
            <a:r>
              <a:rPr lang="en-US" sz="2000" b="0" i="0" dirty="0">
                <a:solidFill>
                  <a:srgbClr val="1F1F1F"/>
                </a:solidFill>
                <a:effectLst/>
                <a:latin typeface="Times New Roman" panose="02020603050405020304" pitchFamily="18" charset="0"/>
                <a:cs typeface="Times New Roman" panose="02020603050405020304" pitchFamily="18" charset="0"/>
              </a:rPr>
              <a:t>The result</a:t>
            </a:r>
            <a:r>
              <a:rPr lang="en-US" sz="2000" dirty="0">
                <a:solidFill>
                  <a:srgbClr val="1F1F1F"/>
                </a:solidFill>
                <a:latin typeface="Times New Roman" panose="02020603050405020304" pitchFamily="18" charset="0"/>
                <a:cs typeface="Times New Roman" panose="02020603050405020304" pitchFamily="18" charset="0"/>
              </a:rPr>
              <a:t>s</a:t>
            </a:r>
            <a:r>
              <a:rPr lang="en-US" sz="2000" b="0" i="0" dirty="0">
                <a:solidFill>
                  <a:srgbClr val="1F1F1F"/>
                </a:solidFill>
                <a:effectLst/>
                <a:latin typeface="Times New Roman" panose="02020603050405020304" pitchFamily="18" charset="0"/>
                <a:cs typeface="Times New Roman" panose="02020603050405020304" pitchFamily="18" charset="0"/>
              </a:rPr>
              <a:t> of the code is to detect objects in real time and display them on the screen. The code will use the YOLO model to detect objects and the pyttsx3 library to provide text-to-speech feedback.</a:t>
            </a:r>
          </a:p>
          <a:p>
            <a:pPr marL="0" indent="0" algn="just">
              <a:lnSpc>
                <a:spcPct val="150000"/>
              </a:lnSpc>
              <a:buNone/>
            </a:pPr>
            <a:r>
              <a:rPr lang="en-US" sz="2000" b="0" i="0" dirty="0">
                <a:solidFill>
                  <a:srgbClr val="1F1F1F"/>
                </a:solidFill>
                <a:effectLst/>
                <a:latin typeface="Times New Roman" panose="02020603050405020304" pitchFamily="18" charset="0"/>
                <a:cs typeface="Times New Roman" panose="02020603050405020304" pitchFamily="18" charset="0"/>
              </a:rPr>
              <a:t>When the code is run, it will open the camera or video stream. It will then start to detect objects in the current frame. If an object is detected, the code will draw a bounding box around the object and display the object's name and confidence score. The code will also provide text-to-speech feedback, stating the name of the object that was detected.</a:t>
            </a:r>
            <a:endParaRPr lang="en-US" sz="2000" dirty="0"/>
          </a:p>
        </p:txBody>
      </p:sp>
    </p:spTree>
    <p:extLst>
      <p:ext uri="{BB962C8B-B14F-4D97-AF65-F5344CB8AC3E}">
        <p14:creationId xmlns:p14="http://schemas.microsoft.com/office/powerpoint/2010/main" xmlns="" val="21327312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results on Single Object  </a:t>
            </a:r>
          </a:p>
        </p:txBody>
      </p:sp>
      <p:pic>
        <p:nvPicPr>
          <p:cNvPr id="1026" name="Picture 2"/>
          <p:cNvPicPr>
            <a:picLocks noGrp="1" noChangeAspect="1" noChangeArrowheads="1"/>
          </p:cNvPicPr>
          <p:nvPr>
            <p:ph idx="1"/>
          </p:nvPr>
        </p:nvPicPr>
        <p:blipFill>
          <a:blip r:embed="rId2"/>
          <a:srcRect/>
          <a:stretch>
            <a:fillRect/>
          </a:stretch>
        </p:blipFill>
        <p:spPr bwMode="auto">
          <a:xfrm>
            <a:off x="4111575" y="1889968"/>
            <a:ext cx="4699461" cy="359643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results on Two Objects</a:t>
            </a:r>
          </a:p>
        </p:txBody>
      </p:sp>
      <p:pic>
        <p:nvPicPr>
          <p:cNvPr id="2050" name="Picture 2"/>
          <p:cNvPicPr>
            <a:picLocks noGrp="1" noChangeAspect="1" noChangeArrowheads="1"/>
          </p:cNvPicPr>
          <p:nvPr>
            <p:ph idx="1"/>
          </p:nvPr>
        </p:nvPicPr>
        <p:blipFill>
          <a:blip r:embed="rId2"/>
          <a:stretch>
            <a:fillRect/>
          </a:stretch>
        </p:blipFill>
        <p:spPr bwMode="auto">
          <a:xfrm>
            <a:off x="2388394" y="2160588"/>
            <a:ext cx="5175249" cy="38814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results on Multiple Objects</a:t>
            </a:r>
          </a:p>
        </p:txBody>
      </p:sp>
      <p:pic>
        <p:nvPicPr>
          <p:cNvPr id="3074" name="Picture 2"/>
          <p:cNvPicPr>
            <a:picLocks noChangeAspect="1" noChangeArrowheads="1"/>
          </p:cNvPicPr>
          <p:nvPr/>
        </p:nvPicPr>
        <p:blipFill>
          <a:blip r:embed="rId2"/>
          <a:srcRect/>
          <a:stretch>
            <a:fillRect/>
          </a:stretch>
        </p:blipFill>
        <p:spPr bwMode="auto">
          <a:xfrm>
            <a:off x="2633786" y="1742112"/>
            <a:ext cx="6184899" cy="45956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B9AA0B-DA23-7CF2-98B0-2C21538CFA12}"/>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xmlns="" id="{31306E9D-4627-5071-10E4-0BAD16291EA4}"/>
              </a:ext>
            </a:extLst>
          </p:cNvPr>
          <p:cNvSpPr>
            <a:spLocks noGrp="1"/>
          </p:cNvSpPr>
          <p:nvPr>
            <p:ph idx="1"/>
          </p:nvPr>
        </p:nvSpPr>
        <p:spPr/>
        <p:txBody>
          <a:bodyPr>
            <a:normAutofit/>
          </a:bodyPr>
          <a:lstStyle/>
          <a:p>
            <a:pPr marL="0" indent="0" algn="just">
              <a:lnSpc>
                <a:spcPct val="150000"/>
              </a:lnSpc>
              <a:buNone/>
            </a:pPr>
            <a:r>
              <a:rPr lang="en-US" sz="2000" b="0" i="0" dirty="0">
                <a:effectLst/>
                <a:latin typeface="Times New Roman" panose="02020603050405020304" pitchFamily="18" charset="0"/>
                <a:cs typeface="Times New Roman" panose="02020603050405020304" pitchFamily="18" charset="0"/>
              </a:rPr>
              <a:t>In conclusion, the project has contributed to the advancement of computer vision and object detection by harnessing the power of deep learning for real-time applications. The knowledge gained throughout this project can serve as a foundation for building more intelligent and responsive systems that can comprehend and interact with the visual world in real-time. As the field of deep learning continues to evolve, we look forward to witnessing further breakthroughs in real-time object detection and its transformative impact on a wide range of industries and applications.</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0179756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6B86C28-C621-4DC2-68A3-363C5DA42895}"/>
              </a:ext>
            </a:extLst>
          </p:cNvPr>
          <p:cNvSpPr>
            <a:spLocks noGrp="1"/>
          </p:cNvSpPr>
          <p:nvPr>
            <p:ph type="title"/>
          </p:nvPr>
        </p:nvSpPr>
        <p:spPr>
          <a:xfrm>
            <a:off x="838200" y="2766218"/>
            <a:ext cx="10515600" cy="1325563"/>
          </a:xfrm>
        </p:spPr>
        <p:txBody>
          <a:bodyPr>
            <a:normAutofit/>
          </a:bodyPr>
          <a:lstStyle/>
          <a:p>
            <a:pPr algn="ctr"/>
            <a:r>
              <a:rPr lang="en-US" sz="48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xmlns="" val="3803840435"/>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587</TotalTime>
  <Words>1173</Words>
  <Application>Microsoft Office PowerPoint</Application>
  <PresentationFormat>Custom</PresentationFormat>
  <Paragraphs>79</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Facet</vt:lpstr>
      <vt:lpstr> Object Detection using Deep Learning with Audio Feedback</vt:lpstr>
      <vt:lpstr>Slide 2</vt:lpstr>
      <vt:lpstr>ABSTRACT</vt:lpstr>
      <vt:lpstr>INTRODUCTION</vt:lpstr>
      <vt:lpstr>Existing System</vt:lpstr>
      <vt:lpstr>Slide 6</vt:lpstr>
      <vt:lpstr>Software Requirements </vt:lpstr>
      <vt:lpstr>Hardware Requirements </vt:lpstr>
      <vt:lpstr>LIBRARIES</vt:lpstr>
      <vt:lpstr>ALGORITHM</vt:lpstr>
      <vt:lpstr>MODEL</vt:lpstr>
      <vt:lpstr>Python Text-to-Speech (TTS)</vt:lpstr>
      <vt:lpstr>DATASETS</vt:lpstr>
      <vt:lpstr>RESULTS</vt:lpstr>
      <vt:lpstr>Performance results on Single Object  </vt:lpstr>
      <vt:lpstr>Performance results on Two Objects</vt:lpstr>
      <vt:lpstr>Performance results on Multiple Objects</vt:lpstr>
      <vt:lpstr>CONCLUSION</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Retrieving Audio from Object-Text detection using Deep Learning</dc:title>
  <dc:creator>Santhosh kumar</dc:creator>
  <cp:lastModifiedBy>VINAY KUMAR</cp:lastModifiedBy>
  <cp:revision>71</cp:revision>
  <dcterms:created xsi:type="dcterms:W3CDTF">2023-02-27T18:20:07Z</dcterms:created>
  <dcterms:modified xsi:type="dcterms:W3CDTF">2024-08-21T17:50:14Z</dcterms:modified>
</cp:coreProperties>
</file>